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87"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notesMaster" Target="notesMasters/notesMaster1.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8" Type="http://schemas.openxmlformats.org/officeDocument/2006/relationships/presProps" Target="presProps.xml" /><Relationship Id="rId10" Type="http://schemas.openxmlformats.org/officeDocument/2006/relationships/slide" Target="slides/slide9.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7" Type="http://customschemas.google.com/relationships/presentationmetadata" Target="metadata"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41377831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dirty="0" err="1"/>
                        <a:t>Bhuvaneshwari</a:t>
                      </a:r>
                      <a:r>
                        <a:rPr lang="en-US" dirty="0"/>
                        <a:t> B</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bhuvibalaji05@gmail.com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7418964642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b="1" dirty="0"/>
              <a:t>Course Content Simplification Agent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78368"/>
          </a:xfrm>
          <a:prstGeom prst="rect">
            <a:avLst/>
          </a:prstGeom>
          <a:noFill/>
        </p:spPr>
        <p:txBody>
          <a:bodyPr wrap="square" rtlCol="0">
            <a:spAutoFit/>
          </a:bodyPr>
          <a:lstStyle/>
          <a:p>
            <a:pPr fontAlgn="base"/>
            <a:r>
              <a:rPr lang="en-US" sz="1800" b="1" dirty="0"/>
              <a:t>Problem Statement : </a:t>
            </a:r>
            <a:r>
              <a:rPr lang="en-IN" sz="1800" b="1" dirty="0"/>
              <a:t>Course Content Simplification Agent </a:t>
            </a:r>
            <a:endParaRPr lang="en-US" sz="1800" b="1" dirty="0"/>
          </a:p>
          <a:p>
            <a:pPr fontAlgn="base"/>
            <a:endParaRPr lang="en-US" sz="1800" b="1" dirty="0"/>
          </a:p>
          <a:p>
            <a:pPr>
              <a:lnSpc>
                <a:spcPct val="150000"/>
              </a:lnSpc>
            </a:pPr>
            <a:r>
              <a:rPr lang="en-IN" b="1" dirty="0"/>
              <a:t>The Challenge</a:t>
            </a:r>
          </a:p>
          <a:p>
            <a:pPr>
              <a:lnSpc>
                <a:spcPct val="150000"/>
              </a:lnSpc>
            </a:pPr>
            <a:r>
              <a:rPr lang="en-IN" dirty="0"/>
              <a:t>Educational materials often vary in complexity and may not be accessible to learners with different levels of prior knowledge. Students frequently struggle to understand key concepts due to technical jargon and advanced explanations in textbooks and lecture notes. There is a need for an AI-powered solution that can simplify and personalize academic content according to the learner's proficiency level.</a:t>
            </a:r>
          </a:p>
          <a:p>
            <a:pPr>
              <a:lnSpc>
                <a:spcPct val="150000"/>
              </a:lnSpc>
            </a:pPr>
            <a:endParaRPr lang="en-IN" dirty="0"/>
          </a:p>
          <a:p>
            <a:pPr>
              <a:lnSpc>
                <a:spcPct val="150000"/>
              </a:lnSpc>
            </a:pPr>
            <a:r>
              <a:rPr lang="en-IN" b="1" dirty="0"/>
              <a:t>Objectives</a:t>
            </a:r>
          </a:p>
          <a:p>
            <a:pPr marL="285750" indent="-285750">
              <a:lnSpc>
                <a:spcPct val="150000"/>
              </a:lnSpc>
              <a:buFont typeface="Arial" panose="020B0604020202020204" pitchFamily="34" charset="0"/>
              <a:buChar char="•"/>
            </a:pPr>
            <a:r>
              <a:rPr lang="en-IN" dirty="0" err="1"/>
              <a:t>Analyze</a:t>
            </a:r>
            <a:r>
              <a:rPr lang="en-IN" dirty="0"/>
              <a:t> academic content and identify key concepts. </a:t>
            </a:r>
          </a:p>
          <a:p>
            <a:pPr marL="285750" indent="-285750">
              <a:lnSpc>
                <a:spcPct val="150000"/>
              </a:lnSpc>
              <a:buFont typeface="Arial" panose="020B0604020202020204" pitchFamily="34" charset="0"/>
              <a:buChar char="•"/>
            </a:pPr>
            <a:r>
              <a:rPr lang="en-IN" dirty="0"/>
              <a:t>Simplify complex educational material while preserving meaning. </a:t>
            </a:r>
          </a:p>
          <a:p>
            <a:pPr marL="285750" indent="-285750">
              <a:lnSpc>
                <a:spcPct val="150000"/>
              </a:lnSpc>
              <a:buFont typeface="Arial" panose="020B0604020202020204" pitchFamily="34" charset="0"/>
              <a:buChar char="•"/>
            </a:pPr>
            <a:r>
              <a:rPr lang="en-IN" dirty="0"/>
              <a:t>Adapt explanations for Beginner, Intermediate, and Expert learners. </a:t>
            </a:r>
          </a:p>
          <a:p>
            <a:pPr marL="285750" indent="-285750">
              <a:lnSpc>
                <a:spcPct val="150000"/>
              </a:lnSpc>
              <a:buFont typeface="Arial" panose="020B0604020202020204" pitchFamily="34" charset="0"/>
              <a:buChar char="•"/>
            </a:pPr>
            <a:r>
              <a:rPr lang="en-IN" dirty="0"/>
              <a:t>Improve accessibility and understanding of course content. </a:t>
            </a:r>
          </a:p>
          <a:p>
            <a:pPr marL="285750" indent="-285750">
              <a:lnSpc>
                <a:spcPct val="150000"/>
              </a:lnSpc>
              <a:buFont typeface="Arial" panose="020B0604020202020204" pitchFamily="34" charset="0"/>
              <a:buChar char="•"/>
            </a:pPr>
            <a:r>
              <a:rPr lang="en-IN" dirty="0"/>
              <a:t>Support personalized and inclusive learning experiences. </a:t>
            </a:r>
          </a:p>
          <a:p>
            <a:pPr marL="285750" indent="-285750">
              <a:lnSpc>
                <a:spcPct val="150000"/>
              </a:lnSpc>
              <a:buFont typeface="Arial" panose="020B0604020202020204" pitchFamily="34" charset="0"/>
              <a:buChar char="•"/>
            </a:pPr>
            <a:r>
              <a:rPr lang="en-IN" dirty="0"/>
              <a:t>Leverage IBM Granite and IBM Cloud services for intelligent content transformation.</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1600438"/>
          </a:xfrm>
          <a:prstGeom prst="rect">
            <a:avLst/>
          </a:prstGeom>
          <a:noFill/>
        </p:spPr>
        <p:txBody>
          <a:bodyPr wrap="square" rtlCol="0">
            <a:spAutoFit/>
          </a:bodyPr>
          <a:lstStyle/>
          <a:p>
            <a:pPr>
              <a:lnSpc>
                <a:spcPct val="200000"/>
              </a:lnSpc>
            </a:pPr>
            <a:r>
              <a:rPr lang="en-IN" b="1" dirty="0"/>
              <a:t>IBM Granite</a:t>
            </a:r>
            <a:r>
              <a:rPr lang="en-IN" dirty="0"/>
              <a:t> – Large Language Model (LLM) for content analysis and simplification. </a:t>
            </a:r>
          </a:p>
          <a:p>
            <a:pPr>
              <a:lnSpc>
                <a:spcPct val="200000"/>
              </a:lnSpc>
            </a:pPr>
            <a:r>
              <a:rPr lang="en-IN" b="1" dirty="0"/>
              <a:t>IBM Watsonx.ai</a:t>
            </a:r>
            <a:r>
              <a:rPr lang="en-IN" dirty="0"/>
              <a:t> – AI platform for accessing and deploying Granite models. </a:t>
            </a:r>
          </a:p>
          <a:p>
            <a:pPr>
              <a:lnSpc>
                <a:spcPct val="200000"/>
              </a:lnSpc>
            </a:pPr>
            <a:r>
              <a:rPr lang="en-IN" b="1" dirty="0"/>
              <a:t>IBM Cloud Lite Services</a:t>
            </a:r>
            <a:r>
              <a:rPr lang="en-IN" dirty="0"/>
              <a:t> – Cloud infrastructure for hosting and managing the application. </a:t>
            </a:r>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216778"/>
          </a:xfrm>
          <a:prstGeom prst="rect">
            <a:avLst/>
          </a:prstGeom>
          <a:noFill/>
        </p:spPr>
        <p:txBody>
          <a:bodyPr wrap="square" rtlCol="0">
            <a:spAutoFit/>
          </a:bodyPr>
          <a:lstStyle/>
          <a:p>
            <a:pPr fontAlgn="base"/>
            <a:endParaRPr lang="en-US" b="1" dirty="0"/>
          </a:p>
          <a:p>
            <a:pPr fontAlgn="base">
              <a:lnSpc>
                <a:spcPct val="150000"/>
              </a:lnSpc>
            </a:pPr>
            <a:r>
              <a:rPr lang="en-US" sz="1600" b="1" dirty="0"/>
              <a:t>Proposed Solution: </a:t>
            </a:r>
            <a:r>
              <a:rPr lang="en-IN" sz="1600" b="1" dirty="0"/>
              <a:t>Course Content Simplification Agent </a:t>
            </a:r>
            <a:endParaRPr lang="en-US" sz="1600" b="1" dirty="0"/>
          </a:p>
          <a:p>
            <a:pPr>
              <a:lnSpc>
                <a:spcPct val="150000"/>
              </a:lnSpc>
            </a:pPr>
            <a:r>
              <a:rPr lang="en-IN" sz="1600" dirty="0"/>
              <a:t>The proposed solution is an </a:t>
            </a:r>
            <a:r>
              <a:rPr lang="en-IN" sz="1600" b="1" dirty="0"/>
              <a:t>AI-powered Course Content Simplification Agent</a:t>
            </a:r>
            <a:r>
              <a:rPr lang="en-IN" sz="1600" dirty="0"/>
              <a:t> that leverages </a:t>
            </a:r>
            <a:r>
              <a:rPr lang="en-IN" sz="1600" b="1" dirty="0"/>
              <a:t>IBM Granite models through Watsonx.ai</a:t>
            </a:r>
            <a:r>
              <a:rPr lang="en-IN" sz="1600" dirty="0"/>
              <a:t> to make complex academic content easier to understand. The system accepts educational materials such as lecture notes, textbook passages, and research articles as input. It </a:t>
            </a:r>
            <a:r>
              <a:rPr lang="en-IN" sz="1600" dirty="0" err="1"/>
              <a:t>analyzes</a:t>
            </a:r>
            <a:r>
              <a:rPr lang="en-IN" sz="1600" dirty="0"/>
              <a:t> the content, identifies key concepts, and simplifies the explanations according to the learner's proficiency level (Beginner, Intermediate, or Expert). By reducing technical jargon while preserving the original meaning, the solution provides personalized learning support, improves comprehension, and makes educational content more accessible to all learners.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Workflow</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616648"/>
          </a:xfrm>
          <a:prstGeom prst="rect">
            <a:avLst/>
          </a:prstGeom>
          <a:noFill/>
        </p:spPr>
        <p:txBody>
          <a:bodyPr wrap="square" rtlCol="0">
            <a:spAutoFit/>
          </a:bodyPr>
          <a:lstStyle/>
          <a:p>
            <a:endParaRPr lang="en-IN" b="1" dirty="0"/>
          </a:p>
          <a:p>
            <a:pPr marL="342900" indent="-342900">
              <a:lnSpc>
                <a:spcPct val="150000"/>
              </a:lnSpc>
              <a:buFont typeface="+mj-lt"/>
              <a:buAutoNum type="arabicPeriod"/>
            </a:pPr>
            <a:r>
              <a:rPr lang="en-IN" dirty="0"/>
              <a:t>User uploads or pastes academic content and selects a learning level. </a:t>
            </a:r>
          </a:p>
          <a:p>
            <a:pPr marL="342900" indent="-342900">
              <a:lnSpc>
                <a:spcPct val="150000"/>
              </a:lnSpc>
              <a:buFont typeface="+mj-lt"/>
              <a:buAutoNum type="arabicPeriod"/>
            </a:pPr>
            <a:r>
              <a:rPr lang="en-IN" dirty="0"/>
              <a:t>The web application sends the content to the Flask backend. </a:t>
            </a:r>
          </a:p>
          <a:p>
            <a:pPr marL="342900" indent="-342900">
              <a:lnSpc>
                <a:spcPct val="150000"/>
              </a:lnSpc>
              <a:buFont typeface="+mj-lt"/>
              <a:buAutoNum type="arabicPeriod"/>
            </a:pPr>
            <a:r>
              <a:rPr lang="en-IN" dirty="0"/>
              <a:t>IBM Granite </a:t>
            </a:r>
            <a:r>
              <a:rPr lang="en-IN" dirty="0" err="1"/>
              <a:t>analyzes</a:t>
            </a:r>
            <a:r>
              <a:rPr lang="en-IN" dirty="0"/>
              <a:t> the content to understand concepts and context. </a:t>
            </a:r>
          </a:p>
          <a:p>
            <a:pPr marL="342900" indent="-342900">
              <a:lnSpc>
                <a:spcPct val="150000"/>
              </a:lnSpc>
              <a:buFont typeface="+mj-lt"/>
              <a:buAutoNum type="arabicPeriod"/>
            </a:pPr>
            <a:r>
              <a:rPr lang="en-IN" dirty="0"/>
              <a:t>The system identifies complex terms and evaluates content difficulty. </a:t>
            </a:r>
          </a:p>
          <a:p>
            <a:pPr marL="342900" indent="-342900">
              <a:lnSpc>
                <a:spcPct val="150000"/>
              </a:lnSpc>
              <a:buFont typeface="+mj-lt"/>
              <a:buAutoNum type="arabicPeriod"/>
            </a:pPr>
            <a:r>
              <a:rPr lang="en-IN" dirty="0"/>
              <a:t>The AI rewrites the content according to the selected proficiency level. </a:t>
            </a:r>
          </a:p>
          <a:p>
            <a:pPr marL="342900" indent="-342900">
              <a:lnSpc>
                <a:spcPct val="150000"/>
              </a:lnSpc>
              <a:buFont typeface="+mj-lt"/>
              <a:buAutoNum type="arabicPeriod"/>
            </a:pPr>
            <a:r>
              <a:rPr lang="en-IN" dirty="0"/>
              <a:t>A simplified and personalized explanation is generated. </a:t>
            </a:r>
          </a:p>
          <a:p>
            <a:pPr marL="342900" indent="-342900">
              <a:lnSpc>
                <a:spcPct val="150000"/>
              </a:lnSpc>
              <a:buFont typeface="+mj-lt"/>
              <a:buAutoNum type="arabicPeriod"/>
            </a:pPr>
            <a:r>
              <a:rPr lang="en-IN" dirty="0"/>
              <a:t>The processed content is returned to the web application. </a:t>
            </a:r>
          </a:p>
          <a:p>
            <a:pPr marL="342900" indent="-342900">
              <a:lnSpc>
                <a:spcPct val="150000"/>
              </a:lnSpc>
              <a:buFont typeface="+mj-lt"/>
              <a:buAutoNum type="arabicPeriod"/>
            </a:pPr>
            <a:r>
              <a:rPr lang="en-IN" dirty="0"/>
              <a:t>The simplified output is displayed to the user for improved understanding.</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5;p5">
            <a:extLst>
              <a:ext uri="{FF2B5EF4-FFF2-40B4-BE49-F238E27FC236}">
                <a16:creationId xmlns:a16="http://schemas.microsoft.com/office/drawing/2014/main" id="{CAB140A3-DEF6-8BC8-8306-E911854AB48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IN" sz="2400" b="1" dirty="0"/>
              <a:t>Course Content Simplification Agent</a:t>
            </a:r>
            <a:r>
              <a:rPr lang="en-US" sz="2400" b="1" dirty="0">
                <a:solidFill>
                  <a:schemeClr val="dk1"/>
                </a:solidFill>
                <a:latin typeface="Calibri"/>
                <a:ea typeface="Calibri"/>
                <a:cs typeface="Calibri"/>
                <a:sym typeface="Calibri"/>
              </a:rPr>
              <a:t> </a:t>
            </a:r>
            <a:endParaRPr lang="en-US" sz="2400" dirty="0"/>
          </a:p>
        </p:txBody>
      </p:sp>
      <p:pic>
        <p:nvPicPr>
          <p:cNvPr id="5" name="Picture 4">
            <a:extLst>
              <a:ext uri="{FF2B5EF4-FFF2-40B4-BE49-F238E27FC236}">
                <a16:creationId xmlns:a16="http://schemas.microsoft.com/office/drawing/2014/main" id="{941CFE97-95AC-2EDC-3489-B76A5C050829}"/>
              </a:ext>
            </a:extLst>
          </p:cNvPr>
          <p:cNvPicPr>
            <a:picLocks noChangeAspect="1"/>
          </p:cNvPicPr>
          <p:nvPr/>
        </p:nvPicPr>
        <p:blipFill>
          <a:blip r:embed="rId2"/>
          <a:srcRect l="15565" t="12473" r="10161" b="6093"/>
          <a:stretch>
            <a:fillRect/>
          </a:stretch>
        </p:blipFill>
        <p:spPr>
          <a:xfrm>
            <a:off x="1740309" y="865238"/>
            <a:ext cx="9055509" cy="5584723"/>
          </a:xfrm>
          <a:prstGeom prst="rect">
            <a:avLst/>
          </a:prstGeom>
        </p:spPr>
      </p:pic>
    </p:spTree>
    <p:extLst>
      <p:ext uri="{BB962C8B-B14F-4D97-AF65-F5344CB8AC3E}">
        <p14:creationId xmlns:p14="http://schemas.microsoft.com/office/powerpoint/2010/main" val="3133304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a:t>
            </a:r>
            <a:endParaRPr lang="en-US" sz="2400" dirty="0"/>
          </a:p>
        </p:txBody>
      </p:sp>
      <p:pic>
        <p:nvPicPr>
          <p:cNvPr id="4" name="Picture 3">
            <a:extLst>
              <a:ext uri="{FF2B5EF4-FFF2-40B4-BE49-F238E27FC236}">
                <a16:creationId xmlns:a16="http://schemas.microsoft.com/office/drawing/2014/main" id="{FA923A31-1E46-42AE-3650-1479A4A7DB0C}"/>
              </a:ext>
            </a:extLst>
          </p:cNvPr>
          <p:cNvPicPr>
            <a:picLocks noChangeAspect="1"/>
          </p:cNvPicPr>
          <p:nvPr/>
        </p:nvPicPr>
        <p:blipFill>
          <a:blip r:embed="rId3"/>
          <a:srcRect t="9175" b="2223"/>
          <a:stretch>
            <a:fillRect/>
          </a:stretch>
        </p:blipFill>
        <p:spPr>
          <a:xfrm>
            <a:off x="952500" y="729960"/>
            <a:ext cx="10287000" cy="60763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IN" dirty="0"/>
              <a:t>Agentic AI acts as an intelligent assistant that autonomously </a:t>
            </a:r>
            <a:r>
              <a:rPr lang="en-IN" dirty="0" err="1"/>
              <a:t>analyzes</a:t>
            </a:r>
            <a:r>
              <a:rPr lang="en-IN" dirty="0"/>
              <a:t>, understands, and transforms academic content based on the learner's needs. Instead of simply generating text, it makes decisions about how the content should be simplified and personalized.</a:t>
            </a:r>
          </a:p>
          <a:p>
            <a:r>
              <a:rPr lang="en-IN" b="1" dirty="0"/>
              <a:t>Understands User Intent</a:t>
            </a:r>
            <a:r>
              <a:rPr lang="en-IN" dirty="0"/>
              <a:t> by identifying the selected learning level (Beginner, Intermediate, or Expert). </a:t>
            </a:r>
          </a:p>
          <a:p>
            <a:r>
              <a:rPr lang="en-IN" b="1" dirty="0" err="1"/>
              <a:t>Analyzes</a:t>
            </a:r>
            <a:r>
              <a:rPr lang="en-IN" b="1" dirty="0"/>
              <a:t> Academic Content</a:t>
            </a:r>
            <a:r>
              <a:rPr lang="en-IN" dirty="0"/>
              <a:t> to extract key concepts, context, and important information. </a:t>
            </a:r>
          </a:p>
          <a:p>
            <a:r>
              <a:rPr lang="en-IN" b="1" dirty="0"/>
              <a:t>Assesses Complexity</a:t>
            </a:r>
            <a:r>
              <a:rPr lang="en-IN" dirty="0"/>
              <a:t> by recognizing technical jargon and difficult explanations. </a:t>
            </a:r>
          </a:p>
          <a:p>
            <a:r>
              <a:rPr lang="en-IN" b="1" dirty="0"/>
              <a:t>Adapts Content Dynamically</a:t>
            </a:r>
            <a:r>
              <a:rPr lang="en-IN" dirty="0"/>
              <a:t> by choosing the appropriate level of simplification for each learner. </a:t>
            </a:r>
          </a:p>
          <a:p>
            <a:r>
              <a:rPr lang="en-IN" b="1" dirty="0"/>
              <a:t>Generates Personalized Explanations</a:t>
            </a:r>
            <a:r>
              <a:rPr lang="en-IN" dirty="0"/>
              <a:t> while preserving the original meaning and academic accuracy. </a:t>
            </a:r>
          </a:p>
          <a:p>
            <a:r>
              <a:rPr lang="en-IN" b="1" dirty="0"/>
              <a:t>Provides Learning Support</a:t>
            </a:r>
            <a:r>
              <a:rPr lang="en-IN" dirty="0"/>
              <a:t> by making content more accessible and easier to understand. </a:t>
            </a:r>
          </a:p>
          <a:p>
            <a:r>
              <a:rPr lang="en-IN" b="1" dirty="0"/>
              <a:t>Improves User Experience</a:t>
            </a:r>
            <a:r>
              <a:rPr lang="en-IN" dirty="0"/>
              <a:t> through automated, real-time content transformation without manual intervention.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952644" cy="3041667"/>
          </a:xfrm>
          <a:prstGeom prst="rect">
            <a:avLst/>
          </a:prstGeom>
          <a:noFill/>
        </p:spPr>
        <p:txBody>
          <a:bodyPr wrap="square" rtlCol="0">
            <a:spAutoFit/>
          </a:bodyPr>
          <a:lstStyle/>
          <a:p>
            <a:pPr lvl="0" eaLnBrk="0" fontAlgn="base" hangingPunct="0">
              <a:lnSpc>
                <a:spcPct val="200000"/>
              </a:lnSpc>
              <a:spcBef>
                <a:spcPct val="0"/>
              </a:spcBef>
              <a:spcAft>
                <a:spcPct val="0"/>
              </a:spcAft>
              <a:buClrTx/>
              <a:buFontTx/>
              <a:buChar char="•"/>
            </a:pPr>
            <a:r>
              <a:rPr lang="en-US" altLang="en-US" b="1" dirty="0">
                <a:solidFill>
                  <a:schemeClr val="tx1"/>
                </a:solidFill>
                <a:latin typeface="Arial" panose="020B0604020202020204" pitchFamily="34" charset="0"/>
              </a:rPr>
              <a:t>IBM Granite</a:t>
            </a:r>
            <a:r>
              <a:rPr lang="en-US" altLang="en-US" dirty="0">
                <a:solidFill>
                  <a:schemeClr val="tx1"/>
                </a:solidFill>
                <a:latin typeface="Arial" panose="020B0604020202020204" pitchFamily="34" charset="0"/>
              </a:rPr>
              <a:t> – Large Language Model (LLM) for content analysis and simplification. </a:t>
            </a:r>
          </a:p>
          <a:p>
            <a:pPr lvl="0" eaLnBrk="0" fontAlgn="base" hangingPunct="0">
              <a:lnSpc>
                <a:spcPct val="200000"/>
              </a:lnSpc>
              <a:spcBef>
                <a:spcPct val="0"/>
              </a:spcBef>
              <a:spcAft>
                <a:spcPct val="0"/>
              </a:spcAft>
              <a:buClrTx/>
              <a:buFontTx/>
              <a:buChar char="•"/>
            </a:pPr>
            <a:r>
              <a:rPr lang="en-US" altLang="en-US" b="1" dirty="0">
                <a:solidFill>
                  <a:schemeClr val="tx1"/>
                </a:solidFill>
                <a:latin typeface="Arial" panose="020B0604020202020204" pitchFamily="34" charset="0"/>
              </a:rPr>
              <a:t>IBM Watsonx.ai</a:t>
            </a:r>
            <a:r>
              <a:rPr lang="en-US" altLang="en-US" dirty="0">
                <a:solidFill>
                  <a:schemeClr val="tx1"/>
                </a:solidFill>
                <a:latin typeface="Arial" panose="020B0604020202020204" pitchFamily="34" charset="0"/>
              </a:rPr>
              <a:t> – AI platform for accessing and deploying Granite models. </a:t>
            </a:r>
          </a:p>
          <a:p>
            <a:pPr lvl="0" eaLnBrk="0" fontAlgn="base" hangingPunct="0">
              <a:lnSpc>
                <a:spcPct val="200000"/>
              </a:lnSpc>
              <a:spcBef>
                <a:spcPct val="0"/>
              </a:spcBef>
              <a:spcAft>
                <a:spcPct val="0"/>
              </a:spcAft>
              <a:buClrTx/>
              <a:buFontTx/>
              <a:buChar char="•"/>
            </a:pPr>
            <a:r>
              <a:rPr lang="en-US" altLang="en-US" b="1" dirty="0">
                <a:solidFill>
                  <a:schemeClr val="tx1"/>
                </a:solidFill>
                <a:latin typeface="Arial" panose="020B0604020202020204" pitchFamily="34" charset="0"/>
              </a:rPr>
              <a:t>IBM Cloud Lite Services</a:t>
            </a:r>
            <a:r>
              <a:rPr lang="en-US" altLang="en-US" dirty="0">
                <a:solidFill>
                  <a:schemeClr val="tx1"/>
                </a:solidFill>
                <a:latin typeface="Arial" panose="020B0604020202020204" pitchFamily="34" charset="0"/>
              </a:rPr>
              <a:t> – Cloud infrastructure for hosting and managing the application. </a:t>
            </a:r>
          </a:p>
          <a:p>
            <a:pPr lvl="0" eaLnBrk="0" fontAlgn="base" hangingPunct="0">
              <a:lnSpc>
                <a:spcPct val="200000"/>
              </a:lnSpc>
              <a:spcBef>
                <a:spcPct val="0"/>
              </a:spcBef>
              <a:spcAft>
                <a:spcPct val="0"/>
              </a:spcAft>
              <a:buClrTx/>
              <a:buFontTx/>
              <a:buChar char="•"/>
            </a:pPr>
            <a:r>
              <a:rPr lang="en-US" altLang="en-US" b="1" dirty="0">
                <a:solidFill>
                  <a:schemeClr val="tx1"/>
                </a:solidFill>
                <a:latin typeface="Arial" panose="020B0604020202020204" pitchFamily="34" charset="0"/>
              </a:rPr>
              <a:t>Python</a:t>
            </a:r>
            <a:r>
              <a:rPr lang="en-US" altLang="en-US" dirty="0">
                <a:solidFill>
                  <a:schemeClr val="tx1"/>
                </a:solidFill>
                <a:latin typeface="Arial" panose="020B0604020202020204" pitchFamily="34" charset="0"/>
              </a:rPr>
              <a:t> – Backend development and AI integration. </a:t>
            </a:r>
          </a:p>
          <a:p>
            <a:pPr lvl="0" eaLnBrk="0" fontAlgn="base" hangingPunct="0">
              <a:lnSpc>
                <a:spcPct val="200000"/>
              </a:lnSpc>
              <a:spcBef>
                <a:spcPct val="0"/>
              </a:spcBef>
              <a:spcAft>
                <a:spcPct val="0"/>
              </a:spcAft>
              <a:buClrTx/>
              <a:buFontTx/>
              <a:buChar char="•"/>
            </a:pPr>
            <a:r>
              <a:rPr lang="en-US" altLang="en-US" b="1" dirty="0">
                <a:solidFill>
                  <a:schemeClr val="tx1"/>
                </a:solidFill>
                <a:latin typeface="Arial" panose="020B0604020202020204" pitchFamily="34" charset="0"/>
              </a:rPr>
              <a:t>Flask</a:t>
            </a:r>
            <a:r>
              <a:rPr lang="en-US" altLang="en-US" dirty="0">
                <a:solidFill>
                  <a:schemeClr val="tx1"/>
                </a:solidFill>
                <a:latin typeface="Arial" panose="020B0604020202020204" pitchFamily="34" charset="0"/>
              </a:rPr>
              <a:t> – Lightweight web framework for building the application. </a:t>
            </a:r>
          </a:p>
          <a:p>
            <a:pPr lvl="0" eaLnBrk="0" fontAlgn="base" hangingPunct="0">
              <a:lnSpc>
                <a:spcPct val="200000"/>
              </a:lnSpc>
              <a:spcBef>
                <a:spcPct val="0"/>
              </a:spcBef>
              <a:spcAft>
                <a:spcPct val="0"/>
              </a:spcAft>
              <a:buClrTx/>
              <a:buFontTx/>
              <a:buChar char="•"/>
            </a:pPr>
            <a:r>
              <a:rPr lang="en-US" altLang="en-US" b="1" dirty="0">
                <a:solidFill>
                  <a:schemeClr val="tx1"/>
                </a:solidFill>
                <a:latin typeface="Arial" panose="020B0604020202020204" pitchFamily="34" charset="0"/>
              </a:rPr>
              <a:t>HTML, CSS, JavaScript</a:t>
            </a:r>
            <a:r>
              <a:rPr lang="en-US" altLang="en-US" dirty="0">
                <a:solidFill>
                  <a:schemeClr val="tx1"/>
                </a:solidFill>
                <a:latin typeface="Arial" panose="020B0604020202020204" pitchFamily="34" charset="0"/>
              </a:rPr>
              <a:t> – Frontend development and user interface design. </a:t>
            </a:r>
          </a:p>
          <a:p>
            <a:pPr lvl="0" eaLnBrk="0" fontAlgn="base" hangingPunct="0">
              <a:lnSpc>
                <a:spcPct val="200000"/>
              </a:lnSpc>
              <a:spcBef>
                <a:spcPct val="0"/>
              </a:spcBef>
              <a:spcAft>
                <a:spcPct val="0"/>
              </a:spcAft>
              <a:buClrTx/>
              <a:buFontTx/>
              <a:buChar char="•"/>
            </a:pPr>
            <a:r>
              <a:rPr lang="en-US" altLang="en-US" b="1" dirty="0">
                <a:solidFill>
                  <a:schemeClr val="tx1"/>
                </a:solidFill>
                <a:latin typeface="Arial" panose="020B0604020202020204" pitchFamily="34" charset="0"/>
              </a:rPr>
              <a:t>REST APIs</a:t>
            </a:r>
            <a:r>
              <a:rPr lang="en-US" altLang="en-US" dirty="0">
                <a:solidFill>
                  <a:schemeClr val="tx1"/>
                </a:solidFill>
                <a:latin typeface="Arial" panose="020B0604020202020204" pitchFamily="34" charset="0"/>
              </a:rPr>
              <a:t> – Communication between the frontend and AI services. </a:t>
            </a:r>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370427"/>
          </a:xfrm>
          <a:prstGeom prst="rect">
            <a:avLst/>
          </a:prstGeom>
          <a:noFill/>
        </p:spPr>
        <p:txBody>
          <a:bodyPr wrap="square" rtlCol="0">
            <a:spAutoFit/>
          </a:bodyPr>
          <a:lstStyle/>
          <a:p>
            <a:pPr>
              <a:lnSpc>
                <a:spcPct val="150000"/>
              </a:lnSpc>
            </a:pPr>
            <a:r>
              <a:rPr lang="en-IN" sz="1600" dirty="0"/>
              <a:t>The proposed </a:t>
            </a:r>
            <a:r>
              <a:rPr lang="en-IN" sz="1600" b="1" dirty="0"/>
              <a:t>Course Content Simplification Agent</a:t>
            </a:r>
            <a:r>
              <a:rPr lang="en-IN" sz="1600" dirty="0"/>
              <a:t> introduces an innovative approach to personalized education by leveraging </a:t>
            </a:r>
            <a:r>
              <a:rPr lang="en-IN" sz="1600" b="1" dirty="0"/>
              <a:t>Agentic AI and IBM Granite Foundation Models</a:t>
            </a:r>
            <a:r>
              <a:rPr lang="en-IN" sz="1600" dirty="0"/>
              <a:t> to transform complex academic content into learner-friendly explanations. Unlike traditional summarization tools, the system intelligently </a:t>
            </a:r>
            <a:r>
              <a:rPr lang="en-IN" sz="1600" dirty="0" err="1"/>
              <a:t>analyzes</a:t>
            </a:r>
            <a:r>
              <a:rPr lang="en-IN" sz="1600" dirty="0"/>
              <a:t> content, identifies key concepts and technical jargon, assesses complexity, and adapts explanations according to the learner’s proficiency level (Beginner, Intermediate, or Expert).</a:t>
            </a:r>
          </a:p>
          <a:p>
            <a:pPr>
              <a:lnSpc>
                <a:spcPct val="150000"/>
              </a:lnSpc>
            </a:pPr>
            <a:r>
              <a:rPr lang="en-IN" sz="1600" dirty="0"/>
              <a:t>Its uniqueness lies in its ability to generate </a:t>
            </a:r>
            <a:r>
              <a:rPr lang="en-IN" sz="1600" b="1" dirty="0"/>
              <a:t>personalized, context-aware explanations</a:t>
            </a:r>
            <a:r>
              <a:rPr lang="en-IN" sz="1600" dirty="0"/>
              <a:t> from the same source material while preserving academic accuracy and meaning. The solution supports various educational resources, including lecture notes, textbooks, and research papers, and delivers instant simplification without requiring manual intervention from instructors. By combining </a:t>
            </a:r>
            <a:r>
              <a:rPr lang="en-IN" sz="1600" b="1" dirty="0"/>
              <a:t>content understanding, complexity assessment, adaptive simplification, and personalized learning support</a:t>
            </a:r>
            <a:r>
              <a:rPr lang="en-IN" sz="1600" dirty="0"/>
              <a:t> within a single platform, the project enhances accessibility, improves comprehension, and promotes inclusive education for learners with diverse backgrounds.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rPr>
              <a:t>https://github.com/Bhuvaneshwari0503/course-content-simplifier</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a:lnSpc>
                <a:spcPct val="150000"/>
              </a:lnSpc>
            </a:pPr>
            <a:r>
              <a:rPr lang="en-IN" sz="1600" b="1" dirty="0"/>
              <a:t>1. Multilingual Content Simplification</a:t>
            </a:r>
            <a:endParaRPr lang="en-IN" sz="1600" dirty="0"/>
          </a:p>
          <a:p>
            <a:pPr>
              <a:lnSpc>
                <a:spcPct val="150000"/>
              </a:lnSpc>
            </a:pPr>
            <a:r>
              <a:rPr lang="en-IN" sz="1600" dirty="0"/>
              <a:t>Extend the system to support multiple languages such as Tamil, Hindi, Telugu, and other regional languages. </a:t>
            </a:r>
          </a:p>
          <a:p>
            <a:pPr>
              <a:lnSpc>
                <a:spcPct val="150000"/>
              </a:lnSpc>
            </a:pPr>
            <a:r>
              <a:rPr lang="en-IN" sz="1600" dirty="0"/>
              <a:t>Allow students to receive simplified explanations in their preferred language. </a:t>
            </a:r>
          </a:p>
          <a:p>
            <a:pPr>
              <a:lnSpc>
                <a:spcPct val="150000"/>
              </a:lnSpc>
            </a:pPr>
            <a:r>
              <a:rPr lang="en-IN" sz="1600" dirty="0"/>
              <a:t>Improve accessibility and make learning easier for a wider range of learners. </a:t>
            </a:r>
          </a:p>
          <a:p>
            <a:pPr>
              <a:lnSpc>
                <a:spcPct val="150000"/>
              </a:lnSpc>
            </a:pPr>
            <a:r>
              <a:rPr lang="en-IN" sz="1600" b="1" dirty="0"/>
              <a:t>2. AI-Generated Quizzes and Learning Support</a:t>
            </a:r>
            <a:endParaRPr lang="en-IN" sz="1600" dirty="0"/>
          </a:p>
          <a:p>
            <a:pPr>
              <a:lnSpc>
                <a:spcPct val="150000"/>
              </a:lnSpc>
            </a:pPr>
            <a:r>
              <a:rPr lang="en-IN" sz="1600" dirty="0"/>
              <a:t>Automatically generate quizzes, practice questions, and summaries from the simplified content. </a:t>
            </a:r>
          </a:p>
          <a:p>
            <a:pPr>
              <a:lnSpc>
                <a:spcPct val="150000"/>
              </a:lnSpc>
            </a:pPr>
            <a:r>
              <a:rPr lang="en-IN" sz="1600" dirty="0"/>
              <a:t>Help students test their understanding and improve knowledge retention. </a:t>
            </a:r>
          </a:p>
          <a:p>
            <a:pPr>
              <a:lnSpc>
                <a:spcPct val="150000"/>
              </a:lnSpc>
            </a:pPr>
            <a:r>
              <a:rPr lang="en-IN" sz="1600" dirty="0"/>
              <a:t>Provide additional learning support for self-paced learning and exam preparation.</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1301</TotalTime>
  <Words>932</Words>
  <Application>Microsoft Office PowerPoint</Application>
  <PresentationFormat>Widescreen</PresentationFormat>
  <Paragraphs>90</Paragraphs>
  <Slides>14</Slides>
  <Notes>12</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BHUVANESHWARI B</cp:lastModifiedBy>
  <cp:revision>23</cp:revision>
  <dcterms:created xsi:type="dcterms:W3CDTF">2025-07-08T05:06:56Z</dcterms:created>
  <dcterms:modified xsi:type="dcterms:W3CDTF">2026-06-08T16:29:38Z</dcterms:modified>
</cp:coreProperties>
</file>